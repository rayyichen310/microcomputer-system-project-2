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7" r:id="rId3"/>
    <p:sldId id="278" r:id="rId4"/>
    <p:sldId id="280" r:id="rId5"/>
    <p:sldId id="279" r:id="rId6"/>
    <p:sldId id="258" r:id="rId7"/>
    <p:sldId id="285" r:id="rId8"/>
    <p:sldId id="259" r:id="rId9"/>
    <p:sldId id="289" r:id="rId10"/>
    <p:sldId id="290" r:id="rId11"/>
    <p:sldId id="288" r:id="rId12"/>
    <p:sldId id="28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6475" y="383060"/>
            <a:ext cx="9883303" cy="2387600"/>
          </a:xfrm>
        </p:spPr>
        <p:txBody>
          <a:bodyPr>
            <a:normAutofit/>
          </a:bodyPr>
          <a:lstStyle/>
          <a:p>
            <a:r>
              <a:rPr lang="zh-TW" altLang="en-US" sz="7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微電腦系統</a:t>
            </a:r>
            <a:r>
              <a:rPr lang="en-US" altLang="zh-TW" sz="7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Projecct-2</a:t>
            </a:r>
            <a:endParaRPr lang="zh-TW" altLang="en-US" sz="7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5779" y="4587774"/>
            <a:ext cx="9144000" cy="1655762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pPr algn="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1100423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陳叡逸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1100427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林冠宇</a:t>
            </a:r>
            <a:endParaRPr lang="en-US" dirty="0"/>
          </a:p>
          <a:p>
            <a:r>
              <a:rPr lang="zh-TW" altLang="en-US" dirty="0"/>
              <a:t>                                                              </a:t>
            </a:r>
            <a:endParaRPr lang="en-US" sz="1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8057"/>
            <a:ext cx="12192000" cy="52070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Flow Chart(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主架構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Flowchart: Terminator 3"/>
          <p:cNvSpPr/>
          <p:nvPr/>
        </p:nvSpPr>
        <p:spPr>
          <a:xfrm>
            <a:off x="5132070" y="598170"/>
            <a:ext cx="1760855" cy="51054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開始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sz="1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設定</a:t>
            </a:r>
            <a:r>
              <a:rPr lang="en-US" altLang="zh-TW" sz="1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Timer 0, Timer 1</a:t>
            </a:r>
            <a:r>
              <a:rPr lang="zh-TW" altLang="en-US" sz="1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為</a:t>
            </a:r>
            <a:r>
              <a:rPr lang="en-US" altLang="zh-TW" sz="1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mode 1 (16 bit timer)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Flowchart: Process 7"/>
          <p:cNvSpPr/>
          <p:nvPr/>
        </p:nvSpPr>
        <p:spPr>
          <a:xfrm>
            <a:off x="5060051" y="2041957"/>
            <a:ext cx="1760855" cy="50482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提取節拍長度的對應數值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,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產生所需的節拍長度</a:t>
            </a:r>
          </a:p>
        </p:txBody>
      </p:sp>
      <p:sp>
        <p:nvSpPr>
          <p:cNvPr id="16" name="Flowchart: Process 15"/>
          <p:cNvSpPr/>
          <p:nvPr/>
        </p:nvSpPr>
        <p:spPr>
          <a:xfrm>
            <a:off x="5047614" y="2714638"/>
            <a:ext cx="1760855" cy="42481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啟動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Timer 1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開始目前音階的節拍</a:t>
            </a:r>
          </a:p>
        </p:txBody>
      </p:sp>
      <p:sp>
        <p:nvSpPr>
          <p:cNvPr id="32" name="Flowchart: Decision 31"/>
          <p:cNvSpPr/>
          <p:nvPr/>
        </p:nvSpPr>
        <p:spPr>
          <a:xfrm>
            <a:off x="5034915" y="4561205"/>
            <a:ext cx="1786255" cy="80899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目前播放音階的節拍是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否結束</a:t>
            </a:r>
            <a:r>
              <a:rPr lang="en-US" altLang="zh-TW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?</a:t>
            </a:r>
          </a:p>
        </p:txBody>
      </p:sp>
      <p:sp>
        <p:nvSpPr>
          <p:cNvPr id="33" name="Flowchart: Decision 32"/>
          <p:cNvSpPr/>
          <p:nvPr/>
        </p:nvSpPr>
        <p:spPr>
          <a:xfrm>
            <a:off x="1967230" y="2981325"/>
            <a:ext cx="1805940" cy="60452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此音階是休止符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1575435" y="6155690"/>
            <a:ext cx="4365625" cy="19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3773170" y="3274060"/>
            <a:ext cx="2160905" cy="12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lowchart: Process 42"/>
          <p:cNvSpPr/>
          <p:nvPr/>
        </p:nvSpPr>
        <p:spPr>
          <a:xfrm>
            <a:off x="2012051" y="3763442"/>
            <a:ext cx="1760855" cy="50482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播放目前提取的音階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44" name="Straight Arrow Connector 43"/>
          <p:cNvCxnSpPr>
            <a:endCxn id="49" idx="0"/>
          </p:cNvCxnSpPr>
          <p:nvPr/>
        </p:nvCxnSpPr>
        <p:spPr>
          <a:xfrm>
            <a:off x="5948045" y="1099820"/>
            <a:ext cx="1270" cy="2178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Process 48"/>
          <p:cNvSpPr/>
          <p:nvPr/>
        </p:nvSpPr>
        <p:spPr>
          <a:xfrm>
            <a:off x="5068306" y="1317422"/>
            <a:ext cx="1760855" cy="50482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初始化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, R0=R1=R2=R3=0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Clear P3.4, TF0, TF1      Stop Timer 0, 1</a:t>
            </a:r>
          </a:p>
        </p:txBody>
      </p:sp>
      <p:cxnSp>
        <p:nvCxnSpPr>
          <p:cNvPr id="51" name="Straight Connector 50"/>
          <p:cNvCxnSpPr>
            <a:stCxn id="30" idx="1"/>
          </p:cNvCxnSpPr>
          <p:nvPr/>
        </p:nvCxnSpPr>
        <p:spPr>
          <a:xfrm flipH="1">
            <a:off x="-536839" y="477317"/>
            <a:ext cx="536575" cy="13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7108825" y="1160145"/>
            <a:ext cx="1270" cy="2597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 flipV="1">
            <a:off x="2861310" y="4268470"/>
            <a:ext cx="5080" cy="12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Process 4"/>
          <p:cNvSpPr/>
          <p:nvPr/>
        </p:nvSpPr>
        <p:spPr>
          <a:xfrm>
            <a:off x="1982841" y="2339772"/>
            <a:ext cx="1760855" cy="48323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提取播放下一個音階的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TH0, TL0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值以產生相對應音頻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570990" y="1889760"/>
            <a:ext cx="6985" cy="4299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32" idx="2"/>
            <a:endCxn id="6" idx="0"/>
          </p:cNvCxnSpPr>
          <p:nvPr/>
        </p:nvCxnSpPr>
        <p:spPr>
          <a:xfrm flipH="1">
            <a:off x="5927725" y="5370195"/>
            <a:ext cx="635" cy="196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6707505" y="3750945"/>
            <a:ext cx="402590" cy="3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 flipV="1">
            <a:off x="5937250" y="5915025"/>
            <a:ext cx="6350" cy="240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1790065" y="4956175"/>
            <a:ext cx="3244850" cy="18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1811020" y="2122170"/>
            <a:ext cx="635" cy="2850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1555750" y="1897380"/>
            <a:ext cx="3959225" cy="7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1811020" y="2122170"/>
            <a:ext cx="1047115" cy="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H="1">
            <a:off x="5529580" y="1897380"/>
            <a:ext cx="2540" cy="1447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>
            <a:off x="2858135" y="2122170"/>
            <a:ext cx="3175" cy="2178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5940425" y="1822450"/>
            <a:ext cx="635" cy="2197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6184265" y="1180465"/>
            <a:ext cx="915670" cy="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184001" y="1202487"/>
            <a:ext cx="8890" cy="1365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H="1">
            <a:off x="5932170" y="2546985"/>
            <a:ext cx="8255" cy="2019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H="1">
            <a:off x="5940161" y="3154477"/>
            <a:ext cx="5080" cy="251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3" idx="2"/>
          </p:cNvCxnSpPr>
          <p:nvPr/>
        </p:nvCxnSpPr>
        <p:spPr>
          <a:xfrm>
            <a:off x="5941060" y="4119880"/>
            <a:ext cx="3810" cy="4413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 Box 83"/>
          <p:cNvSpPr txBox="1"/>
          <p:nvPr/>
        </p:nvSpPr>
        <p:spPr>
          <a:xfrm>
            <a:off x="3694166" y="3059227"/>
            <a:ext cx="324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85" name="Text Box 84"/>
          <p:cNvSpPr txBox="1"/>
          <p:nvPr/>
        </p:nvSpPr>
        <p:spPr>
          <a:xfrm>
            <a:off x="5927461" y="5290617"/>
            <a:ext cx="324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86" name="Text Box 85"/>
          <p:cNvSpPr txBox="1"/>
          <p:nvPr/>
        </p:nvSpPr>
        <p:spPr>
          <a:xfrm>
            <a:off x="4823831" y="4749597"/>
            <a:ext cx="30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否</a:t>
            </a:r>
          </a:p>
        </p:txBody>
      </p:sp>
      <p:sp>
        <p:nvSpPr>
          <p:cNvPr id="87" name="Text Box 86"/>
          <p:cNvSpPr txBox="1"/>
          <p:nvPr/>
        </p:nvSpPr>
        <p:spPr>
          <a:xfrm>
            <a:off x="5884916" y="4067607"/>
            <a:ext cx="30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否</a:t>
            </a:r>
          </a:p>
        </p:txBody>
      </p:sp>
      <p:sp>
        <p:nvSpPr>
          <p:cNvPr id="88" name="Text Box 87"/>
          <p:cNvSpPr txBox="1"/>
          <p:nvPr/>
        </p:nvSpPr>
        <p:spPr>
          <a:xfrm>
            <a:off x="6707241" y="3487852"/>
            <a:ext cx="324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92" name="Text Box 91"/>
          <p:cNvSpPr txBox="1"/>
          <p:nvPr/>
        </p:nvSpPr>
        <p:spPr>
          <a:xfrm>
            <a:off x="2868031" y="3536747"/>
            <a:ext cx="30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否</a:t>
            </a:r>
          </a:p>
        </p:txBody>
      </p:sp>
      <p:sp>
        <p:nvSpPr>
          <p:cNvPr id="3" name="Flowchart: Decision 2"/>
          <p:cNvSpPr/>
          <p:nvPr/>
        </p:nvSpPr>
        <p:spPr>
          <a:xfrm>
            <a:off x="5060051" y="3385617"/>
            <a:ext cx="1761490" cy="73406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是否播放完最後一個音階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2860040" y="2823210"/>
            <a:ext cx="1270" cy="186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861310" y="3585845"/>
            <a:ext cx="6985" cy="177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874010" y="4395470"/>
            <a:ext cx="3066415" cy="177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5047614" y="5566423"/>
            <a:ext cx="1760855" cy="42481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停止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Timer 1 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準備提取下一個音階的節拍長度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8057"/>
            <a:ext cx="12192000" cy="52070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Flow Chart (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音階高低的設計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4" name="Flowchart: Terminator 3"/>
          <p:cNvSpPr/>
          <p:nvPr/>
        </p:nvSpPr>
        <p:spPr>
          <a:xfrm>
            <a:off x="5053965" y="568960"/>
            <a:ext cx="1760855" cy="51054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開始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lowchart: Process 7"/>
          <p:cNvSpPr/>
          <p:nvPr/>
        </p:nvSpPr>
        <p:spPr>
          <a:xfrm>
            <a:off x="5060315" y="1998980"/>
            <a:ext cx="1760855" cy="56515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sz="9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+mn-ea"/>
              </a:rPr>
              <a:t>以</a:t>
            </a:r>
            <a:r>
              <a:rPr lang="en-US" altLang="zh-TW" sz="9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+mn-ea"/>
              </a:rPr>
              <a:t>R1 </a:t>
            </a:r>
            <a:r>
              <a:rPr lang="zh-TW" altLang="en-US" sz="9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+mn-ea"/>
              </a:rPr>
              <a:t>為</a:t>
            </a:r>
            <a:r>
              <a:rPr lang="en-US" altLang="zh-TW" sz="9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+mn-ea"/>
              </a:rPr>
              <a:t> index</a:t>
            </a:r>
            <a:r>
              <a:rPr lang="zh-TW" altLang="en-US" sz="9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+mn-ea"/>
              </a:rPr>
              <a:t>提取音階高低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的對應頻率所計算出的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Timer count 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值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,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並存於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TH0,TL0 (TH0=TL0=0 </a:t>
            </a: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時為休止符</a:t>
            </a:r>
          </a:p>
        </p:txBody>
      </p:sp>
      <p:sp>
        <p:nvSpPr>
          <p:cNvPr id="16" name="Flowchart: Process 15"/>
          <p:cNvSpPr/>
          <p:nvPr/>
        </p:nvSpPr>
        <p:spPr>
          <a:xfrm>
            <a:off x="5060950" y="5615305"/>
            <a:ext cx="1760855" cy="41148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1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Index(R1) = index(R1)+1, </a:t>
            </a:r>
            <a:r>
              <a:rPr lang="zh-TW" altLang="en-US" sz="11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準備提取下一個音階</a:t>
            </a:r>
          </a:p>
        </p:txBody>
      </p:sp>
      <p:sp>
        <p:nvSpPr>
          <p:cNvPr id="32" name="Flowchart: Decision 31"/>
          <p:cNvSpPr/>
          <p:nvPr/>
        </p:nvSpPr>
        <p:spPr>
          <a:xfrm>
            <a:off x="5053965" y="4749800"/>
            <a:ext cx="1786255" cy="66675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sz="1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播放音階的節拍是否結束</a:t>
            </a:r>
            <a:r>
              <a:rPr lang="en-US" altLang="zh-TW" sz="1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?</a:t>
            </a:r>
          </a:p>
        </p:txBody>
      </p:sp>
      <p:cxnSp>
        <p:nvCxnSpPr>
          <p:cNvPr id="36" name="Straight Connector 35"/>
          <p:cNvCxnSpPr/>
          <p:nvPr/>
        </p:nvCxnSpPr>
        <p:spPr>
          <a:xfrm flipH="1">
            <a:off x="4682490" y="1905000"/>
            <a:ext cx="9525" cy="3183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49" idx="0"/>
          </p:cNvCxnSpPr>
          <p:nvPr/>
        </p:nvCxnSpPr>
        <p:spPr>
          <a:xfrm>
            <a:off x="5933440" y="1066800"/>
            <a:ext cx="1270" cy="2178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Process 48"/>
          <p:cNvSpPr/>
          <p:nvPr/>
        </p:nvSpPr>
        <p:spPr>
          <a:xfrm>
            <a:off x="5053965" y="1284605"/>
            <a:ext cx="1760855" cy="44958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sz="1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設定</a:t>
            </a:r>
            <a:r>
              <a:rPr lang="en-US" altLang="zh-TW" sz="1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 Timer 0</a:t>
            </a:r>
            <a:r>
              <a:rPr lang="zh-TW" altLang="en-US" sz="1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為</a:t>
            </a:r>
            <a:r>
              <a:rPr lang="en-US" altLang="zh-TW" sz="1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 mode 1 (16 bit timer),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初始化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 R0=R1=0, Clear TF0</a:t>
            </a:r>
          </a:p>
        </p:txBody>
      </p:sp>
      <p:cxnSp>
        <p:nvCxnSpPr>
          <p:cNvPr id="51" name="Straight Connector 50"/>
          <p:cNvCxnSpPr>
            <a:stCxn id="30" idx="1"/>
          </p:cNvCxnSpPr>
          <p:nvPr/>
        </p:nvCxnSpPr>
        <p:spPr>
          <a:xfrm flipH="1">
            <a:off x="-536839" y="477317"/>
            <a:ext cx="536575" cy="13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 flipV="1">
            <a:off x="5911215" y="6042025"/>
            <a:ext cx="7620" cy="119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4324985" y="6176645"/>
            <a:ext cx="1586230" cy="7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7220585" y="2970530"/>
            <a:ext cx="6985" cy="1657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4674870" y="5089525"/>
            <a:ext cx="379095" cy="6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673600" y="1915795"/>
            <a:ext cx="888365" cy="4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 flipV="1">
            <a:off x="4324985" y="1833880"/>
            <a:ext cx="7620" cy="4331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332605" y="1833880"/>
            <a:ext cx="1400175" cy="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5740400" y="1826895"/>
            <a:ext cx="14605" cy="1784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endCxn id="8" idx="0"/>
          </p:cNvCxnSpPr>
          <p:nvPr/>
        </p:nvCxnSpPr>
        <p:spPr>
          <a:xfrm>
            <a:off x="5940425" y="1734820"/>
            <a:ext cx="635" cy="264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6856095" y="2988310"/>
            <a:ext cx="3644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5554980" y="1912620"/>
            <a:ext cx="5715" cy="107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endCxn id="3" idx="0"/>
          </p:cNvCxnSpPr>
          <p:nvPr/>
        </p:nvCxnSpPr>
        <p:spPr>
          <a:xfrm>
            <a:off x="5960110" y="2581275"/>
            <a:ext cx="0" cy="1466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endCxn id="5" idx="0"/>
          </p:cNvCxnSpPr>
          <p:nvPr/>
        </p:nvCxnSpPr>
        <p:spPr>
          <a:xfrm>
            <a:off x="5952490" y="3248025"/>
            <a:ext cx="7620" cy="2044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84"/>
          <p:cNvSpPr txBox="1"/>
          <p:nvPr/>
        </p:nvSpPr>
        <p:spPr>
          <a:xfrm>
            <a:off x="5933176" y="5339512"/>
            <a:ext cx="324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86" name="Text Box 85"/>
          <p:cNvSpPr txBox="1"/>
          <p:nvPr/>
        </p:nvSpPr>
        <p:spPr>
          <a:xfrm>
            <a:off x="5910951" y="3214167"/>
            <a:ext cx="30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否</a:t>
            </a:r>
          </a:p>
        </p:txBody>
      </p:sp>
      <p:sp>
        <p:nvSpPr>
          <p:cNvPr id="88" name="Text Box 87"/>
          <p:cNvSpPr txBox="1"/>
          <p:nvPr/>
        </p:nvSpPr>
        <p:spPr>
          <a:xfrm>
            <a:off x="6721475" y="2768600"/>
            <a:ext cx="2876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3" name="Flowchart: Decision 2"/>
          <p:cNvSpPr/>
          <p:nvPr/>
        </p:nvSpPr>
        <p:spPr>
          <a:xfrm>
            <a:off x="5079365" y="2727960"/>
            <a:ext cx="1761490" cy="520065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提取的音階是否為休止符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5960110" y="4627880"/>
            <a:ext cx="1259205" cy="5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5079365" y="4078605"/>
            <a:ext cx="1760855" cy="43688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sz="1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啟動</a:t>
            </a:r>
            <a:r>
              <a:rPr lang="en-US" altLang="zh-TW" sz="1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Timer 0, </a:t>
            </a:r>
            <a:r>
              <a:rPr lang="zh-TW" altLang="en-US" sz="1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產生</a:t>
            </a:r>
            <a:r>
              <a:rPr lang="en-US" altLang="zh-TW" sz="1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 Clock 1/2 </a:t>
            </a:r>
            <a:r>
              <a:rPr lang="zh-TW" altLang="en-US" sz="1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週期的時間</a:t>
            </a:r>
            <a:endParaRPr kumimoji="0" lang="en-US" altLang="zh-TW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Calibri" panose="020F050202020403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948680" y="5408930"/>
            <a:ext cx="7620" cy="2235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5950585" y="4515485"/>
            <a:ext cx="5715" cy="2317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Process 4"/>
          <p:cNvSpPr/>
          <p:nvPr/>
        </p:nvSpPr>
        <p:spPr>
          <a:xfrm>
            <a:off x="5079365" y="3452495"/>
            <a:ext cx="1760855" cy="3632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1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+mn-ea"/>
              </a:rPr>
              <a:t>Complement bit  P3.4</a:t>
            </a:r>
            <a:endParaRPr lang="zh-TW" altLang="en-US" sz="11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sym typeface="+mn-ea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4764405" y="4820920"/>
            <a:ext cx="3149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否</a:t>
            </a:r>
          </a:p>
        </p:txBody>
      </p:sp>
      <p:cxnSp>
        <p:nvCxnSpPr>
          <p:cNvPr id="28" name="Straight Arrow Connector 27"/>
          <p:cNvCxnSpPr>
            <a:stCxn id="5" idx="2"/>
          </p:cNvCxnSpPr>
          <p:nvPr/>
        </p:nvCxnSpPr>
        <p:spPr>
          <a:xfrm flipH="1">
            <a:off x="5950585" y="3815715"/>
            <a:ext cx="9525" cy="2628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8057"/>
            <a:ext cx="12192000" cy="52070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Flow Chart (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節拍時間長短的設計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4" name="Flowchart: Terminator 3"/>
          <p:cNvSpPr/>
          <p:nvPr/>
        </p:nvSpPr>
        <p:spPr>
          <a:xfrm>
            <a:off x="5055870" y="589280"/>
            <a:ext cx="1760855" cy="51054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開始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設定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 Timer 1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為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 mode 1 (16 bit timer)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lowchart: Process 7"/>
          <p:cNvSpPr/>
          <p:nvPr/>
        </p:nvSpPr>
        <p:spPr>
          <a:xfrm>
            <a:off x="5060315" y="2042160"/>
            <a:ext cx="1760855" cy="54229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提取下一個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+mn-ea"/>
              </a:rPr>
              <a:t>(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+mn-ea"/>
              </a:rPr>
              <a:t>以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+mn-ea"/>
              </a:rPr>
              <a:t>R3 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+mn-ea"/>
              </a:rPr>
              <a:t>為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+mn-ea"/>
              </a:rPr>
              <a:t> index)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+mn-ea"/>
              </a:rPr>
              <a:t>產生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節拍長度的對應數值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,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並暫存於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R2</a:t>
            </a:r>
          </a:p>
        </p:txBody>
      </p:sp>
      <p:sp>
        <p:nvSpPr>
          <p:cNvPr id="16" name="Flowchart: Process 15"/>
          <p:cNvSpPr/>
          <p:nvPr/>
        </p:nvSpPr>
        <p:spPr>
          <a:xfrm>
            <a:off x="5068570" y="2825115"/>
            <a:ext cx="1760855" cy="56705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設定</a:t>
            </a:r>
            <a:r>
              <a:rPr kumimoji="0" lang="en-US" altLang="zh-TW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TH1=0, TL1=0 </a:t>
            </a:r>
            <a:r>
              <a:rPr kumimoji="0" lang="zh-TW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以得到</a:t>
            </a:r>
            <a:r>
              <a:rPr kumimoji="0" lang="en-US" altLang="zh-TW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Timer Register</a:t>
            </a:r>
            <a:r>
              <a:rPr kumimoji="0" lang="zh-TW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能產生的最大延遲時間</a:t>
            </a:r>
          </a:p>
        </p:txBody>
      </p:sp>
      <p:sp>
        <p:nvSpPr>
          <p:cNvPr id="32" name="Flowchart: Decision 31"/>
          <p:cNvSpPr/>
          <p:nvPr/>
        </p:nvSpPr>
        <p:spPr>
          <a:xfrm>
            <a:off x="5029835" y="4388485"/>
            <a:ext cx="1786255" cy="77470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目前播放音階的節拍是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否結束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(R2=0)?</a:t>
            </a:r>
          </a:p>
        </p:txBody>
      </p:sp>
      <p:cxnSp>
        <p:nvCxnSpPr>
          <p:cNvPr id="44" name="Straight Arrow Connector 43"/>
          <p:cNvCxnSpPr>
            <a:endCxn id="49" idx="0"/>
          </p:cNvCxnSpPr>
          <p:nvPr/>
        </p:nvCxnSpPr>
        <p:spPr>
          <a:xfrm>
            <a:off x="5948045" y="1099820"/>
            <a:ext cx="1270" cy="2178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Process 48"/>
          <p:cNvSpPr/>
          <p:nvPr/>
        </p:nvSpPr>
        <p:spPr>
          <a:xfrm>
            <a:off x="5068306" y="1317422"/>
            <a:ext cx="1760855" cy="50482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初始化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, R2=R3=0, Clear TF1</a:t>
            </a:r>
          </a:p>
        </p:txBody>
      </p:sp>
      <p:cxnSp>
        <p:nvCxnSpPr>
          <p:cNvPr id="51" name="Straight Connector 50"/>
          <p:cNvCxnSpPr>
            <a:stCxn id="30" idx="1"/>
          </p:cNvCxnSpPr>
          <p:nvPr/>
        </p:nvCxnSpPr>
        <p:spPr>
          <a:xfrm flipH="1">
            <a:off x="-536839" y="477317"/>
            <a:ext cx="536575" cy="13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 flipV="1">
            <a:off x="7132955" y="1908810"/>
            <a:ext cx="14605" cy="28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4642221" y="5774487"/>
            <a:ext cx="426085" cy="10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 flipV="1">
            <a:off x="7192645" y="5238115"/>
            <a:ext cx="10795" cy="547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6772910" y="5785485"/>
            <a:ext cx="430530" cy="4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821170" y="4772660"/>
            <a:ext cx="313690" cy="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 flipV="1">
            <a:off x="4645025" y="2675890"/>
            <a:ext cx="7620" cy="3105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645025" y="2675890"/>
            <a:ext cx="10356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>
            <a:off x="5676265" y="2675890"/>
            <a:ext cx="4445" cy="170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5940425" y="1822450"/>
            <a:ext cx="635" cy="2197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6209030" y="1901190"/>
            <a:ext cx="930910" cy="15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209030" y="1901190"/>
            <a:ext cx="8890" cy="1530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5940425" y="2600325"/>
            <a:ext cx="6350" cy="2247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5956935" y="3408045"/>
            <a:ext cx="6350" cy="1911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 Box 83"/>
          <p:cNvSpPr txBox="1"/>
          <p:nvPr/>
        </p:nvSpPr>
        <p:spPr>
          <a:xfrm>
            <a:off x="4803511" y="5543347"/>
            <a:ext cx="324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85" name="Text Box 84"/>
          <p:cNvSpPr txBox="1"/>
          <p:nvPr/>
        </p:nvSpPr>
        <p:spPr>
          <a:xfrm>
            <a:off x="5945241" y="5420792"/>
            <a:ext cx="324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86" name="Text Box 85"/>
          <p:cNvSpPr txBox="1"/>
          <p:nvPr/>
        </p:nvSpPr>
        <p:spPr>
          <a:xfrm>
            <a:off x="6772646" y="5573192"/>
            <a:ext cx="30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否</a:t>
            </a:r>
          </a:p>
        </p:txBody>
      </p:sp>
      <p:sp>
        <p:nvSpPr>
          <p:cNvPr id="88" name="Text Box 87"/>
          <p:cNvSpPr txBox="1"/>
          <p:nvPr/>
        </p:nvSpPr>
        <p:spPr>
          <a:xfrm>
            <a:off x="6720840" y="4503420"/>
            <a:ext cx="2876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3" name="Flowchart: Decision 2"/>
          <p:cNvSpPr/>
          <p:nvPr/>
        </p:nvSpPr>
        <p:spPr>
          <a:xfrm>
            <a:off x="5054971" y="5412537"/>
            <a:ext cx="1761490" cy="73406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是否播放完最</a:t>
            </a:r>
            <a:r>
              <a:rPr kumimoji="0" lang="zh-TW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大延遲時間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?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5930900" y="5274310"/>
            <a:ext cx="1259205" cy="5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owchart: Process 5"/>
          <p:cNvSpPr/>
          <p:nvPr/>
        </p:nvSpPr>
        <p:spPr>
          <a:xfrm>
            <a:off x="5060315" y="3615055"/>
            <a:ext cx="1760855" cy="55626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啟動</a:t>
            </a: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Timer 1</a:t>
            </a: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  <a:sym typeface="+mn-ea"/>
              </a:rPr>
              <a:t>開始</a:t>
            </a:r>
            <a:r>
              <a:rPr lang="zh-TW" altLang="en-US" sz="12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sym typeface="+mn-ea"/>
              </a:rPr>
              <a:t>最大延遲時間</a:t>
            </a:r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Calibri" panose="020F0502020204030204" pitchFamily="34" charset="0"/>
            </a:endParaRPr>
          </a:p>
        </p:txBody>
      </p:sp>
      <p:cxnSp>
        <p:nvCxnSpPr>
          <p:cNvPr id="7" name="Straight Arrow Connector 6"/>
          <p:cNvCxnSpPr>
            <a:stCxn id="6" idx="2"/>
          </p:cNvCxnSpPr>
          <p:nvPr/>
        </p:nvCxnSpPr>
        <p:spPr>
          <a:xfrm flipH="1">
            <a:off x="5933440" y="4171315"/>
            <a:ext cx="7620" cy="2216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918835" y="5163185"/>
            <a:ext cx="8890" cy="2495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99098"/>
          </a:xfrm>
        </p:spPr>
        <p:txBody>
          <a:bodyPr/>
          <a:lstStyle/>
          <a:p>
            <a:r>
              <a:rPr lang="en-US" altLang="zh-TW" dirty="0"/>
              <a:t>Difficulty</a:t>
            </a:r>
            <a:r>
              <a:rPr lang="zh-TW" altLang="en-US" dirty="0"/>
              <a:t> </a:t>
            </a:r>
            <a:r>
              <a:rPr lang="en-US" altLang="zh-TW" dirty="0"/>
              <a:t>and  </a:t>
            </a:r>
            <a:r>
              <a:rPr kumimoji="0" lang="en-US" altLang="zh-TW" sz="48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 panose="020F0302020204030204"/>
                <a:ea typeface="新細明體" panose="02020500000000000000" pitchFamily="18" charset="-120"/>
                <a:cs typeface="+mj-cs"/>
              </a:rPr>
              <a:t>Discussion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15438" y="1476083"/>
            <a:ext cx="10533759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sz="1600" dirty="0"/>
          </a:p>
          <a:p>
            <a:r>
              <a:rPr lang="en-US" altLang="zh-TW" sz="1600" dirty="0"/>
              <a:t>(1)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計算方波頻率過程複雜繁瑣，因此我製作一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表格，</a:t>
            </a:r>
            <a:r>
              <a:rPr lang="zh-TW" altLang="en-US" sz="16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由</a:t>
            </a:r>
            <a:r>
              <a:rPr lang="en-US" altLang="zh-TW" sz="16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TH0/TH1 or TL0/TL1 </a:t>
            </a:r>
            <a:r>
              <a:rPr lang="zh-TW" altLang="en-US" sz="16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6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Count</a:t>
            </a:r>
            <a:r>
              <a:rPr lang="zh-TW" altLang="en-US" sz="16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值 求出                                                               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16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Delay</a:t>
            </a:r>
            <a:r>
              <a:rPr lang="zh-TW" altLang="en-US" sz="16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的時間或產生方波的週期</a:t>
            </a:r>
            <a:r>
              <a:rPr lang="en-US" altLang="zh-TW" sz="16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頻率，避免計算錯誤並提升設計效率</a:t>
            </a:r>
            <a:endParaRPr lang="en-US" altLang="zh-TW" sz="16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(2) 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歌曲為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大調，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需升半音，最後一小節有兩個升記號也需注意</a:t>
            </a:r>
            <a:endParaRPr lang="en-US" altLang="zh-TW" sz="16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(3) tempo=70 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每一拍秒數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=(60/70)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秒 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6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0.857142857</a:t>
            </a:r>
            <a:r>
              <a:rPr lang="zh-TW" altLang="en-US" sz="1600" b="0" i="0" u="none" strike="noStrike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  <a:r>
              <a:rPr lang="en-US" altLang="zh-TW" sz="1600" b="0" i="0" u="none" strike="noStrike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詳見下頁</a:t>
            </a:r>
            <a:r>
              <a:rPr lang="en-US" altLang="zh-TW" sz="1600" b="0" i="0" u="none" strike="noStrike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產生節拍的方法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88072" y="1737360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(1)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♩=70,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一拍的時間長度約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是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0.857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     (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♩=60,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一拍的時間長度是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1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秒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)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 Timer register(16 bits)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的最大值是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65535, number of count = 65535-0+1=65536.    1 count</a:t>
            </a:r>
          </a:p>
          <a:p>
            <a:pPr marL="0" indent="0"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1.085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微秒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頻率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=11.0592 MHz / 12 = 921.6 kHz.     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週期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= 1/921.6 kHz = 1.085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微秒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)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Timer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能產生的最大時間值是</a:t>
            </a:r>
          </a:p>
          <a:p>
            <a:pPr marL="0" indent="0"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1.085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微秒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x 65536 = 0.0711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秒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	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</a:p>
          <a:p>
            <a:pPr marL="0" indent="0" algn="l"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(3)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一拍的時間長度約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0.857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秒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. 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要利用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Timer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產生一拍的時間長度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0.857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秒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,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則需循環使用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Timer M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次</a:t>
            </a:r>
          </a:p>
          <a:p>
            <a:pPr marL="0" indent="0" algn="l"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		M = 0.857/0.0711 = ~ 12 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(4)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所以要產生一拍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時間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M=12,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產生半拍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時間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M=6,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產生二拍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時間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M=24,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以此類推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</a:p>
          <a:p>
            <a:pPr marL="0" indent="0"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(5)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在本程式中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R2=M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利用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DJNZ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R2=0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表示完成節拍的時間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8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 panose="020F0302020204030204"/>
                <a:ea typeface="新細明體" panose="02020500000000000000" pitchFamily="18" charset="-120"/>
                <a:cs typeface="+mj-cs"/>
              </a:rPr>
              <a:t>Discussion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17930" y="1737360"/>
            <a:ext cx="10562941" cy="531195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蜂鳴器種類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以下為兩種蜂鳴器區分方式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marL="0" indent="0"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發聲方式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無源蜂鳴器：</a:t>
            </a:r>
            <a:b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 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無源內部不帶震盪源，透過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PWM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方式控制其發聲頻率</a:t>
            </a:r>
            <a:r>
              <a:rPr lang="zh-TW" altLang="en-US" sz="1600" b="0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600" b="0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DC</a:t>
            </a:r>
            <a:r>
              <a:rPr lang="zh-TW" altLang="en-US" sz="1600" b="0" i="0" dirty="0">
                <a:solidFill>
                  <a:srgbClr val="333333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電源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無法令其發出聲音。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有源蜂鳴器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marL="0" indent="0">
              <a:buNone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內部帶震盪源，頻率已由內部的振盪電路所決定。只要接通電源，就會發出固定的音調。</a:t>
            </a:r>
            <a:b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8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 panose="020F0302020204030204"/>
                <a:ea typeface="新細明體" panose="02020500000000000000" pitchFamily="18" charset="-120"/>
                <a:cs typeface="+mj-cs"/>
              </a:rPr>
              <a:t>Discussion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製作工藝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電壓式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電流式</a:t>
            </a:r>
          </a:p>
          <a:p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外觀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由上往下看，可看見其內部構造      電磁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震動膜片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鐵片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銀灰色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                                                   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電壓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---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電壓片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銅片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黃色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363" y="3443185"/>
            <a:ext cx="5400094" cy="2624247"/>
          </a:xfrm>
          <a:prstGeom prst="rect">
            <a:avLst/>
          </a:prstGeom>
        </p:spPr>
      </p:pic>
      <p:pic>
        <p:nvPicPr>
          <p:cNvPr id="8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32" y="3443185"/>
            <a:ext cx="5436668" cy="26242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8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 panose="020F0302020204030204"/>
                <a:ea typeface="新細明體" panose="02020500000000000000" pitchFamily="18" charset="-120"/>
                <a:cs typeface="+mj-cs"/>
              </a:rPr>
              <a:t>Discussion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918407" y="1759446"/>
            <a:ext cx="11273593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原理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將矽鋼片、磁鐵、音圈、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鐵等置於塑殼內，其中，矽鋼片在電磁效應之下，因磁場改變而上下振動，產生聲音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電流控制輸出大小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電壓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</a:t>
            </a:r>
            <a:r>
              <a:rPr lang="zh-TW" altLang="en-US" sz="1600" b="0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將壓電片黏合在塑殼之內，壓電片在壓電效應之下，因電場改變而上下往復振動，產生聲音</a:t>
            </a:r>
            <a:r>
              <a:rPr lang="en-US" altLang="zh-TW" sz="1600" b="0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0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電壓控制輸出大小</a:t>
            </a:r>
            <a:r>
              <a:rPr lang="en-US" altLang="zh-TW" sz="1600" b="0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b="0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600" dirty="0"/>
              <a:t>3.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工作電壓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視型號而定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: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--- 1.5v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24v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電壓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--- 1v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220v (3v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以上聲音才夠大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600" dirty="0"/>
              <a:t>4.</a:t>
            </a:r>
            <a:r>
              <a:rPr lang="zh-TW" altLang="en-US" sz="1600" dirty="0"/>
              <a:t>頻率響應</a:t>
            </a:r>
            <a:r>
              <a:rPr lang="en-US" altLang="zh-TW" sz="1600" dirty="0"/>
              <a:t>:</a:t>
            </a:r>
            <a:r>
              <a:rPr lang="zh-TW" altLang="en-US" sz="1600" dirty="0"/>
              <a:t>電磁</a:t>
            </a:r>
            <a:r>
              <a:rPr lang="en-US" altLang="zh-TW" sz="1600" dirty="0"/>
              <a:t>---</a:t>
            </a:r>
            <a:r>
              <a:rPr lang="en-US" altLang="zh-TW" sz="1600" b="0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2khz~ 4khz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電壓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---4khz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以上</a:t>
            </a:r>
            <a:endParaRPr lang="en-US" altLang="zh-TW" sz="16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根據以上分類，推測</a:t>
            </a:r>
            <a:r>
              <a:rPr lang="en-US" altLang="zh-TW" sz="1400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8051</a:t>
            </a:r>
            <a:r>
              <a:rPr lang="zh-TW" altLang="en-US" sz="1400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應為無源電磁式蜂鳴器</a:t>
            </a:r>
            <a:endParaRPr lang="en-US" altLang="zh-TW" sz="1400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zh-TW" altLang="en-US" sz="16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707" y="4026681"/>
            <a:ext cx="3415493" cy="2314666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0107" y="4026681"/>
            <a:ext cx="3659550" cy="231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6505027" y="3718904"/>
            <a:ext cx="1120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電磁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10210800" y="3771126"/>
            <a:ext cx="840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8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 panose="020F0302020204030204"/>
                <a:ea typeface="新細明體" panose="02020500000000000000" pitchFamily="18" charset="-120"/>
                <a:cs typeface="+mj-cs"/>
              </a:rPr>
              <a:t>Discussion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01042" y="1806823"/>
            <a:ext cx="10058400" cy="446427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調整蜂鳴器聲音大小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蜂鳴器的聲音大小取決於其振幅，我們只能透過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timer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控制其頻率達到不同的音高</a:t>
            </a:r>
            <a:r>
              <a:rPr lang="zh-TW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。由蜂鳴器的發聲原理可知，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提高振幅需要透過外部電</a:t>
            </a:r>
            <a:r>
              <a:rPr lang="zh-TW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流源增加輸入電流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。調整時需確認蜂鳴器的工作電流，若電流過大可能會導致蜂鳴器燒毀。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同時播放多個音符：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蜂鳴器一次只能產生一個頻率，若要同時產生多個音，</a:t>
            </a:r>
            <a:r>
              <a:rPr lang="zh-TW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推測也許可以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透過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timer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讓音符快速重複循環，用聽覺暫留達到所想的效果。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indent="0">
              <a:buClr>
                <a:srgbClr val="9DBFBE"/>
              </a:buClr>
              <a:buNone/>
              <a:defRPr/>
            </a:pPr>
            <a:r>
              <a:rPr lang="zh-TW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利用上述方法測試後，蜂鳴器無法一次播放兩個音，可能是蜂鳴器的硬體限制，若換成喇叭也許可以成功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附影片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with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不同延遲時間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D1D5DB"/>
              </a:solidFill>
              <a:effectLst/>
              <a:uLnTx/>
              <a:uFillTx/>
              <a:latin typeface="Söhne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4 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最高和最低頻率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lang="zh-TW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此蜂鳴器可發出的音高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約在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100hz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至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4000hz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。過高或過低會導致聲音變小及音準失真。可參考同類型電磁式無源蜂鳴器 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KC-1201 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的頻率響應圖。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詳見第九頁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8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 panose="020F0302020204030204"/>
                <a:ea typeface="新細明體" panose="02020500000000000000" pitchFamily="18" charset="-120"/>
                <a:cs typeface="+mj-cs"/>
              </a:rPr>
              <a:t>Discussion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7279" y="1737360"/>
            <a:ext cx="10245171" cy="4023360"/>
          </a:xfrm>
        </p:spPr>
        <p:txBody>
          <a:bodyPr/>
          <a:lstStyle/>
          <a:p>
            <a:r>
              <a:rPr lang="en-US" altLang="zh-TW" sz="2800" dirty="0"/>
              <a:t>4</a:t>
            </a:r>
            <a:r>
              <a:rPr lang="zh-TW" altLang="en-US" dirty="0"/>
              <a:t>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延伸功能應用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微電腦音樂盒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利用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語言重新編寫程式，將想撥放的歌曲音階和拍子分別存入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song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陣列和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tone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陣列。透過輸入選擇播放不同的歌曲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微電腦鋼琴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修改上述程式，將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8051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連接外部鍵盤，利用鍵盤輸入改變音高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回顧">
  <a:themeElements>
    <a:clrScheme name="回顧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回顧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回顧">
  <a:themeElements>
    <a:clrScheme name="回顧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回顧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</TotalTime>
  <Words>1170</Words>
  <Application>Microsoft Office PowerPoint</Application>
  <PresentationFormat>寬螢幕</PresentationFormat>
  <Paragraphs>106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Söhne</vt:lpstr>
      <vt:lpstr>微軟正黑體</vt:lpstr>
      <vt:lpstr>Calibri</vt:lpstr>
      <vt:lpstr>Calibri Light</vt:lpstr>
      <vt:lpstr>1_回顧</vt:lpstr>
      <vt:lpstr>回顧</vt:lpstr>
      <vt:lpstr>微電腦系統Projecct-2</vt:lpstr>
      <vt:lpstr>Flow Chart(主架構)</vt:lpstr>
      <vt:lpstr>Flow Chart (音階高低的設計)</vt:lpstr>
      <vt:lpstr>Flow Chart (節拍時間長短的設計)</vt:lpstr>
      <vt:lpstr>Difficulty and  Discussion</vt:lpstr>
      <vt:lpstr>產生節拍的方法</vt:lpstr>
      <vt:lpstr>Discussion</vt:lpstr>
      <vt:lpstr>Discussion</vt:lpstr>
      <vt:lpstr>Discussion</vt:lpstr>
      <vt:lpstr>Discussion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微電腦系統Projecct-2</dc:title>
  <dc:creator>逸 陳</dc:creator>
  <cp:lastModifiedBy>逸 陳</cp:lastModifiedBy>
  <cp:revision>46</cp:revision>
  <dcterms:created xsi:type="dcterms:W3CDTF">2023-05-17T06:26:00Z</dcterms:created>
  <dcterms:modified xsi:type="dcterms:W3CDTF">2023-05-22T11:56:38Z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2BAFC10CFD394F99BCE0FD681C2E198E</vt:lpwstr>
  </property>
  <property fmtid="{D5CDD505-2E9C-101B-9397-08002B2CF9AE}" pid="3" name="KSOProductBuildVer">
    <vt:lpwstr>1033-11.2.0.11537</vt:lpwstr>
  </property>
</Properties>
</file>